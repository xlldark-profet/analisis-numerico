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28"/>
    <p:sldId id="257" r:id="rId29"/>
    <p:sldId id="258" r:id="rId30"/>
    <p:sldId id="259" r:id="rId31"/>
    <p:sldId id="260" r:id="rId32"/>
    <p:sldId id="261" r:id="rId33"/>
    <p:sldId id="262" r:id="rId34"/>
    <p:sldId id="263" r:id="rId35"/>
  </p:sldIdLst>
  <p:sldSz cx="18288000" cy="10287000"/>
  <p:notesSz cx="6858000" cy="9144000"/>
  <p:embeddedFontLst>
    <p:embeddedFont>
      <p:font typeface="League Gothic" charset="1" panose="00000500000000000000"/>
      <p:regular r:id="rId6"/>
    </p:embeddedFont>
    <p:embeddedFont>
      <p:font typeface="League Gothic Italics" charset="1" panose="00000500000000000000"/>
      <p:regular r:id="rId7"/>
    </p:embeddedFont>
    <p:embeddedFont>
      <p:font typeface="Arimo" charset="1" panose="020B0604020202020204"/>
      <p:regular r:id="rId8"/>
    </p:embeddedFont>
    <p:embeddedFont>
      <p:font typeface="Arimo Bold" charset="1" panose="020B0704020202020204"/>
      <p:regular r:id="rId9"/>
    </p:embeddedFont>
    <p:embeddedFont>
      <p:font typeface="Arimo Italics" charset="1" panose="020B0604020202090204"/>
      <p:regular r:id="rId10"/>
    </p:embeddedFont>
    <p:embeddedFont>
      <p:font typeface="Arimo Bold Italics" charset="1" panose="020B0704020202090204"/>
      <p:regular r:id="rId11"/>
    </p:embeddedFont>
    <p:embeddedFont>
      <p:font typeface="Open Sans Light" charset="1" panose="020B0306030504020204"/>
      <p:regular r:id="rId12"/>
    </p:embeddedFont>
    <p:embeddedFont>
      <p:font typeface="Open Sans Light Bold" charset="1" panose="020B0806030504020204"/>
      <p:regular r:id="rId13"/>
    </p:embeddedFont>
    <p:embeddedFont>
      <p:font typeface="Open Sans Light Italics" charset="1" panose="020B0306030504020204"/>
      <p:regular r:id="rId14"/>
    </p:embeddedFont>
    <p:embeddedFont>
      <p:font typeface="Open Sans Light Bold Italics" charset="1" panose="020B0806030504020204"/>
      <p:regular r:id="rId15"/>
    </p:embeddedFont>
    <p:embeddedFont>
      <p:font typeface="Open Sans" charset="1" panose="020B0606030504020204"/>
      <p:regular r:id="rId16"/>
    </p:embeddedFont>
    <p:embeddedFont>
      <p:font typeface="Open Sans Bold" charset="1" panose="020B0806030504020204"/>
      <p:regular r:id="rId17"/>
    </p:embeddedFont>
    <p:embeddedFont>
      <p:font typeface="Open Sans Italics" charset="1" panose="020B0606030504020204"/>
      <p:regular r:id="rId18"/>
    </p:embeddedFont>
    <p:embeddedFont>
      <p:font typeface="Open Sans Bold Italics" charset="1" panose="020B0806030504020204"/>
      <p:regular r:id="rId19"/>
    </p:embeddedFont>
    <p:embeddedFont>
      <p:font typeface="Prompt Bold" charset="1" panose="00000800000000000000"/>
      <p:regular r:id="rId20"/>
    </p:embeddedFont>
    <p:embeddedFont>
      <p:font typeface="Prompt Bold Bold" charset="1" panose="00000900000000000000"/>
      <p:regular r:id="rId21"/>
    </p:embeddedFont>
    <p:embeddedFont>
      <p:font typeface="Prompt Bold Italics" charset="1" panose="00000800000000000000"/>
      <p:regular r:id="rId22"/>
    </p:embeddedFont>
    <p:embeddedFont>
      <p:font typeface="Prompt Bold Bold Italics" charset="1" panose="00000900000000000000"/>
      <p:regular r:id="rId23"/>
    </p:embeddedFont>
    <p:embeddedFont>
      <p:font typeface="Prompt Light" charset="1" panose="00000400000000000000"/>
      <p:regular r:id="rId24"/>
    </p:embeddedFont>
    <p:embeddedFont>
      <p:font typeface="Prompt Light Bold" charset="1" panose="00000500000000000000"/>
      <p:regular r:id="rId25"/>
    </p:embeddedFont>
    <p:embeddedFont>
      <p:font typeface="Prompt Light Italics" charset="1" panose="00000400000000000000"/>
      <p:regular r:id="rId26"/>
    </p:embeddedFont>
    <p:embeddedFont>
      <p:font typeface="Prompt Light Bold Italics" charset="1" panose="000005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slides/slide1.xml" Type="http://schemas.openxmlformats.org/officeDocument/2006/relationships/slide"/><Relationship Id="rId29" Target="slides/slide2.xml" Type="http://schemas.openxmlformats.org/officeDocument/2006/relationships/slide"/><Relationship Id="rId3" Target="viewProps.xml" Type="http://schemas.openxmlformats.org/officeDocument/2006/relationships/viewProps"/><Relationship Id="rId30" Target="slides/slide3.xml" Type="http://schemas.openxmlformats.org/officeDocument/2006/relationships/slide"/><Relationship Id="rId31" Target="slides/slide4.xml" Type="http://schemas.openxmlformats.org/officeDocument/2006/relationships/slide"/><Relationship Id="rId32" Target="slides/slide5.xml" Type="http://schemas.openxmlformats.org/officeDocument/2006/relationships/slide"/><Relationship Id="rId33" Target="slides/slide6.xml" Type="http://schemas.openxmlformats.org/officeDocument/2006/relationships/slide"/><Relationship Id="rId34" Target="slides/slide7.xml" Type="http://schemas.openxmlformats.org/officeDocument/2006/relationships/slide"/><Relationship Id="rId35" Target="slides/slide8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fonts/font6.fntdata" Type="http://schemas.openxmlformats.org/officeDocument/2006/relationships/font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svg" Type="http://schemas.openxmlformats.org/officeDocument/2006/relationships/image"/><Relationship Id="rId3" Target="../media/image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sv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9999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3925762" y="7954754"/>
            <a:ext cx="7213418" cy="371491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alphaModFix amt="9999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t="0" r="0" b="0"/>
          <a:stretch>
            <a:fillRect/>
          </a:stretch>
        </p:blipFill>
        <p:spPr>
          <a:xfrm flipH="false" flipV="false" rot="-10800000">
            <a:off x="-2578009" y="319982"/>
            <a:ext cx="7213418" cy="371491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alphaModFix amt="9999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3148400" y="1786965"/>
            <a:ext cx="7213418" cy="371491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879613" y="4147757"/>
            <a:ext cx="9443989" cy="3801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36"/>
              </a:lnSpc>
            </a:pPr>
            <a:r>
              <a:rPr lang="en-US" sz="7720">
                <a:solidFill>
                  <a:srgbClr val="FFFFFF"/>
                </a:solidFill>
                <a:latin typeface="Prompt Bold"/>
              </a:rPr>
              <a:t>METODO ITERATIVO DE PUNTO FIJO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81075"/>
            <a:ext cx="7435592" cy="423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4"/>
              </a:lnSpc>
            </a:pPr>
            <a:r>
              <a:rPr lang="en-US" sz="2467">
                <a:solidFill>
                  <a:srgbClr val="FFFFFF"/>
                </a:solidFill>
                <a:latin typeface="Prompt Light"/>
              </a:rPr>
              <a:t>Cristian Benitez, Alejandro Diaz, Andres Porras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41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0780053" y="9258300"/>
            <a:ext cx="7315200" cy="71822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9999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t="0" r="0" b="0"/>
          <a:stretch>
            <a:fillRect/>
          </a:stretch>
        </p:blipFill>
        <p:spPr>
          <a:xfrm flipH="false" flipV="false" rot="-10800000">
            <a:off x="11083270" y="132149"/>
            <a:ext cx="7213418" cy="371491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 rot="0">
            <a:off x="6133558" y="999211"/>
            <a:ext cx="5861906" cy="1249946"/>
            <a:chOff x="0" y="0"/>
            <a:chExt cx="14869586" cy="3170672"/>
          </a:xfrm>
        </p:grpSpPr>
        <p:sp>
          <p:nvSpPr>
            <p:cNvPr name="Freeform 5" id="5"/>
            <p:cNvSpPr/>
            <p:nvPr/>
          </p:nvSpPr>
          <p:spPr>
            <a:xfrm>
              <a:off x="0" y="0"/>
              <a:ext cx="14423816" cy="2724902"/>
            </a:xfrm>
            <a:custGeom>
              <a:avLst/>
              <a:gdLst/>
              <a:ahLst/>
              <a:cxnLst/>
              <a:rect r="r" b="b" t="t" l="l"/>
              <a:pathLst>
                <a:path h="2724902" w="14423816">
                  <a:moveTo>
                    <a:pt x="14422546" y="0"/>
                  </a:moveTo>
                  <a:lnTo>
                    <a:pt x="14423816" y="1270"/>
                  </a:lnTo>
                  <a:lnTo>
                    <a:pt x="14423816" y="0"/>
                  </a:lnTo>
                  <a:lnTo>
                    <a:pt x="14422546" y="0"/>
                  </a:lnTo>
                  <a:close/>
                  <a:moveTo>
                    <a:pt x="0" y="2723632"/>
                  </a:moveTo>
                  <a:lnTo>
                    <a:pt x="0" y="2724902"/>
                  </a:lnTo>
                  <a:lnTo>
                    <a:pt x="1270" y="2724902"/>
                  </a:lnTo>
                  <a:lnTo>
                    <a:pt x="0" y="2723632"/>
                  </a:lnTo>
                  <a:close/>
                </a:path>
              </a:pathLst>
            </a:custGeom>
            <a:solidFill>
              <a:srgbClr val="FFFFFF">
                <a:alpha val="22745"/>
              </a:srgbClr>
            </a:solidFill>
          </p:spPr>
        </p:sp>
        <p:sp>
          <p:nvSpPr>
            <p:cNvPr name="Freeform 6" id="6"/>
            <p:cNvSpPr/>
            <p:nvPr/>
          </p:nvSpPr>
          <p:spPr>
            <a:xfrm>
              <a:off x="0" y="0"/>
              <a:ext cx="14869585" cy="3170672"/>
            </a:xfrm>
            <a:custGeom>
              <a:avLst/>
              <a:gdLst/>
              <a:ahLst/>
              <a:cxnLst/>
              <a:rect r="r" b="b" t="t" l="l"/>
              <a:pathLst>
                <a:path h="3170672" w="14869585">
                  <a:moveTo>
                    <a:pt x="14869585" y="447040"/>
                  </a:moveTo>
                  <a:lnTo>
                    <a:pt x="14869585" y="2724902"/>
                  </a:lnTo>
                  <a:lnTo>
                    <a:pt x="14422546" y="3170672"/>
                  </a:lnTo>
                  <a:lnTo>
                    <a:pt x="467475" y="3170672"/>
                  </a:lnTo>
                  <a:lnTo>
                    <a:pt x="1270" y="2724902"/>
                  </a:lnTo>
                  <a:lnTo>
                    <a:pt x="0" y="2723632"/>
                  </a:lnTo>
                  <a:lnTo>
                    <a:pt x="0" y="447040"/>
                  </a:lnTo>
                  <a:lnTo>
                    <a:pt x="467475" y="0"/>
                  </a:lnTo>
                  <a:lnTo>
                    <a:pt x="14422546" y="0"/>
                  </a:lnTo>
                  <a:lnTo>
                    <a:pt x="14423816" y="1270"/>
                  </a:lnTo>
                  <a:lnTo>
                    <a:pt x="14869585" y="447040"/>
                  </a:lnTo>
                  <a:close/>
                </a:path>
              </a:pathLst>
            </a:custGeom>
            <a:solidFill>
              <a:srgbClr val="FF1616">
                <a:alpha val="22745"/>
              </a:srgbClr>
            </a:solidFill>
          </p:spPr>
        </p:sp>
      </p:grpSp>
      <p:grpSp>
        <p:nvGrpSpPr>
          <p:cNvPr name="Group 7" id="7"/>
          <p:cNvGrpSpPr/>
          <p:nvPr/>
        </p:nvGrpSpPr>
        <p:grpSpPr>
          <a:xfrm rot="-5400000">
            <a:off x="6649018" y="304609"/>
            <a:ext cx="4989965" cy="11091958"/>
            <a:chOff x="0" y="0"/>
            <a:chExt cx="4827536" cy="10730902"/>
          </a:xfrm>
        </p:grpSpPr>
        <p:sp>
          <p:nvSpPr>
            <p:cNvPr name="Freeform 8" id="8"/>
            <p:cNvSpPr/>
            <p:nvPr/>
          </p:nvSpPr>
          <p:spPr>
            <a:xfrm>
              <a:off x="0" y="0"/>
              <a:ext cx="4827536" cy="10730902"/>
            </a:xfrm>
            <a:custGeom>
              <a:avLst/>
              <a:gdLst/>
              <a:ahLst/>
              <a:cxnLst/>
              <a:rect r="r" b="b" t="t" l="l"/>
              <a:pathLst>
                <a:path h="10730902" w="4827536">
                  <a:moveTo>
                    <a:pt x="133350" y="838200"/>
                  </a:moveTo>
                  <a:lnTo>
                    <a:pt x="133350" y="300990"/>
                  </a:lnTo>
                  <a:lnTo>
                    <a:pt x="146050" y="300990"/>
                  </a:lnTo>
                  <a:lnTo>
                    <a:pt x="146050" y="10437533"/>
                  </a:lnTo>
                  <a:lnTo>
                    <a:pt x="133350" y="10437533"/>
                  </a:lnTo>
                  <a:lnTo>
                    <a:pt x="133350" y="838200"/>
                  </a:lnTo>
                  <a:close/>
                  <a:moveTo>
                    <a:pt x="304800" y="137160"/>
                  </a:moveTo>
                  <a:lnTo>
                    <a:pt x="4525276" y="137160"/>
                  </a:lnTo>
                  <a:lnTo>
                    <a:pt x="4525276" y="124460"/>
                  </a:lnTo>
                  <a:lnTo>
                    <a:pt x="304800" y="124460"/>
                  </a:lnTo>
                  <a:lnTo>
                    <a:pt x="304800" y="137160"/>
                  </a:lnTo>
                  <a:close/>
                  <a:moveTo>
                    <a:pt x="25400" y="10051452"/>
                  </a:moveTo>
                  <a:lnTo>
                    <a:pt x="0" y="10051452"/>
                  </a:lnTo>
                  <a:lnTo>
                    <a:pt x="0" y="10730902"/>
                  </a:lnTo>
                  <a:lnTo>
                    <a:pt x="679450" y="10730902"/>
                  </a:lnTo>
                  <a:lnTo>
                    <a:pt x="679450" y="10705502"/>
                  </a:lnTo>
                  <a:lnTo>
                    <a:pt x="25400" y="10705502"/>
                  </a:lnTo>
                  <a:lnTo>
                    <a:pt x="25400" y="10051452"/>
                  </a:lnTo>
                  <a:close/>
                  <a:moveTo>
                    <a:pt x="25400" y="25400"/>
                  </a:moveTo>
                  <a:lnTo>
                    <a:pt x="679450" y="25400"/>
                  </a:lnTo>
                  <a:lnTo>
                    <a:pt x="679450" y="0"/>
                  </a:lnTo>
                  <a:lnTo>
                    <a:pt x="0" y="0"/>
                  </a:lnTo>
                  <a:lnTo>
                    <a:pt x="0" y="679450"/>
                  </a:lnTo>
                  <a:lnTo>
                    <a:pt x="25400" y="679450"/>
                  </a:lnTo>
                  <a:lnTo>
                    <a:pt x="25400" y="25400"/>
                  </a:lnTo>
                  <a:close/>
                  <a:moveTo>
                    <a:pt x="4695456" y="838200"/>
                  </a:moveTo>
                  <a:lnTo>
                    <a:pt x="4695456" y="295910"/>
                  </a:lnTo>
                  <a:lnTo>
                    <a:pt x="4682756" y="295910"/>
                  </a:lnTo>
                  <a:lnTo>
                    <a:pt x="4682756" y="10437533"/>
                  </a:lnTo>
                  <a:lnTo>
                    <a:pt x="4695456" y="10437533"/>
                  </a:lnTo>
                  <a:lnTo>
                    <a:pt x="4695456" y="838200"/>
                  </a:lnTo>
                  <a:close/>
                  <a:moveTo>
                    <a:pt x="4524006" y="10593743"/>
                  </a:moveTo>
                  <a:lnTo>
                    <a:pt x="299720" y="10593743"/>
                  </a:lnTo>
                  <a:lnTo>
                    <a:pt x="299720" y="10606443"/>
                  </a:lnTo>
                  <a:lnTo>
                    <a:pt x="4524006" y="10606443"/>
                  </a:lnTo>
                  <a:lnTo>
                    <a:pt x="4524006" y="10593743"/>
                  </a:lnTo>
                  <a:close/>
                  <a:moveTo>
                    <a:pt x="4148086" y="0"/>
                  </a:moveTo>
                  <a:lnTo>
                    <a:pt x="4148086" y="25400"/>
                  </a:lnTo>
                  <a:lnTo>
                    <a:pt x="4802136" y="25400"/>
                  </a:lnTo>
                  <a:lnTo>
                    <a:pt x="4802136" y="679450"/>
                  </a:lnTo>
                  <a:lnTo>
                    <a:pt x="4827536" y="679450"/>
                  </a:lnTo>
                  <a:lnTo>
                    <a:pt x="4827536" y="0"/>
                  </a:lnTo>
                  <a:lnTo>
                    <a:pt x="4148086" y="0"/>
                  </a:lnTo>
                  <a:close/>
                  <a:moveTo>
                    <a:pt x="4802136" y="10705502"/>
                  </a:moveTo>
                  <a:lnTo>
                    <a:pt x="4148086" y="10705502"/>
                  </a:lnTo>
                  <a:lnTo>
                    <a:pt x="4148086" y="10730902"/>
                  </a:lnTo>
                  <a:lnTo>
                    <a:pt x="4827536" y="10730902"/>
                  </a:lnTo>
                  <a:lnTo>
                    <a:pt x="4827536" y="10051452"/>
                  </a:lnTo>
                  <a:lnTo>
                    <a:pt x="4802136" y="10051452"/>
                  </a:lnTo>
                  <a:lnTo>
                    <a:pt x="4802136" y="10705502"/>
                  </a:lnTo>
                  <a:close/>
                </a:path>
              </a:pathLst>
            </a:custGeom>
            <a:solidFill>
              <a:srgbClr val="FFFFFF">
                <a:alpha val="29803"/>
              </a:srgbClr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6672514" y="1130176"/>
            <a:ext cx="1283001" cy="835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3"/>
              </a:lnSpc>
            </a:pPr>
            <a:r>
              <a:rPr lang="en-US" sz="4795">
                <a:solidFill>
                  <a:srgbClr val="FFFFFF"/>
                </a:solidFill>
                <a:latin typeface="League Gothic"/>
              </a:rPr>
              <a:t>f(x)=0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341210" y="1153989"/>
            <a:ext cx="1318155" cy="835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3"/>
              </a:lnSpc>
            </a:pPr>
            <a:r>
              <a:rPr lang="en-US" sz="4795">
                <a:solidFill>
                  <a:srgbClr val="FFFFFF"/>
                </a:solidFill>
                <a:latin typeface="League Gothic"/>
              </a:rPr>
              <a:t>g(x)=x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994465" y="3562007"/>
            <a:ext cx="1883783" cy="779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85"/>
              </a:lnSpc>
            </a:pPr>
            <a:r>
              <a:rPr lang="en-US" sz="4489">
                <a:solidFill>
                  <a:srgbClr val="FFFFFF"/>
                </a:solidFill>
                <a:latin typeface="League Gothic"/>
              </a:rPr>
              <a:t>Es iterativo: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912903" y="4629103"/>
            <a:ext cx="9370337" cy="1321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14413" indent="-407207" lvl="1">
              <a:lnSpc>
                <a:spcPts val="5281"/>
              </a:lnSpc>
              <a:buFont typeface="Arial"/>
              <a:buChar char="•"/>
            </a:pPr>
            <a:r>
              <a:rPr lang="en-US" sz="3772">
                <a:solidFill>
                  <a:srgbClr val="FFFFFF"/>
                </a:solidFill>
                <a:latin typeface="League Gothic"/>
              </a:rPr>
              <a:t>Alcance un rango de error</a:t>
            </a:r>
          </a:p>
          <a:p>
            <a:pPr marL="814414" indent="-407207" lvl="1">
              <a:lnSpc>
                <a:spcPts val="5281"/>
              </a:lnSpc>
              <a:buFont typeface="Arial"/>
              <a:buChar char="•"/>
            </a:pPr>
            <a:r>
              <a:rPr lang="en-US" sz="3772">
                <a:solidFill>
                  <a:srgbClr val="FFFFFF"/>
                </a:solidFill>
                <a:latin typeface="League Gothic"/>
              </a:rPr>
              <a:t>Las iteraciones se repitan una cantidad de veces predeterminada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598021" y="6449276"/>
            <a:ext cx="4560454" cy="1546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955051" indent="-477525" lvl="1">
              <a:lnSpc>
                <a:spcPts val="6193"/>
              </a:lnSpc>
              <a:buFont typeface="Arial"/>
              <a:buChar char="•"/>
            </a:pPr>
            <a:r>
              <a:rPr lang="en-US" sz="4423">
                <a:solidFill>
                  <a:srgbClr val="FFFFFF"/>
                </a:solidFill>
                <a:latin typeface="League Gothic"/>
              </a:rPr>
              <a:t>Si |g'(x)|&gt;1     </a:t>
            </a:r>
            <a:r>
              <a:rPr lang="en-US" sz="4423" u="sng">
                <a:solidFill>
                  <a:srgbClr val="FFFFFF"/>
                </a:solidFill>
                <a:latin typeface="League Gothic"/>
              </a:rPr>
              <a:t>Diverge</a:t>
            </a:r>
          </a:p>
          <a:p>
            <a:pPr marL="955052" indent="-477526" lvl="1">
              <a:lnSpc>
                <a:spcPts val="6193"/>
              </a:lnSpc>
              <a:buFont typeface="Arial"/>
              <a:buChar char="•"/>
            </a:pPr>
            <a:r>
              <a:rPr lang="en-US" sz="4423">
                <a:solidFill>
                  <a:srgbClr val="FFFFFF"/>
                </a:solidFill>
                <a:latin typeface="League Gothic"/>
              </a:rPr>
              <a:t>Si |g'(x)|&lt;1     </a:t>
            </a:r>
            <a:r>
              <a:rPr lang="en-US" sz="4423" u="sng">
                <a:solidFill>
                  <a:srgbClr val="FFFFFF"/>
                </a:solidFill>
                <a:latin typeface="League Gothic"/>
              </a:rPr>
              <a:t>Converge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3">
            <a:alphaModFix amt="9999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742097" y="8345570"/>
            <a:ext cx="7213418" cy="37149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8972" t="0" r="8972" b="0"/>
          <a:stretch>
            <a:fillRect/>
          </a:stretch>
        </p:blipFill>
        <p:spPr>
          <a:xfrm flipH="false" flipV="false" rot="0">
            <a:off x="6819250" y="2442866"/>
            <a:ext cx="10657389" cy="7061965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9999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t="0" r="0" b="0"/>
          <a:stretch>
            <a:fillRect/>
          </a:stretch>
        </p:blipFill>
        <p:spPr>
          <a:xfrm flipH="false" flipV="false" rot="-10800000">
            <a:off x="0" y="6572090"/>
            <a:ext cx="7213418" cy="371491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alphaModFix amt="9999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t="0" r="0" b="0"/>
          <a:stretch>
            <a:fillRect/>
          </a:stretch>
        </p:blipFill>
        <p:spPr>
          <a:xfrm flipH="false" flipV="false" rot="-10800000">
            <a:off x="10912885" y="0"/>
            <a:ext cx="7213418" cy="371491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402299" y="6774676"/>
            <a:ext cx="3584893" cy="887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sz="5200">
                <a:solidFill>
                  <a:srgbClr val="FFFFFF"/>
                </a:solidFill>
                <a:latin typeface="Open Sans"/>
              </a:rPr>
              <a:t>g(x) = cos(x)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06669" y="1088238"/>
            <a:ext cx="6039153" cy="104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76"/>
              </a:lnSpc>
            </a:pPr>
            <a:r>
              <a:rPr lang="en-US" sz="6126" u="sng">
                <a:solidFill>
                  <a:srgbClr val="FFFFFF"/>
                </a:solidFill>
                <a:ea typeface="Open Sans"/>
              </a:rPr>
              <a:t>𝑓(𝑥) = 𝑐𝑜𝑠2(𝑥)−𝑥2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30862" y="3370552"/>
            <a:ext cx="3942715" cy="887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sz="5200">
                <a:solidFill>
                  <a:srgbClr val="FFFFFF"/>
                </a:solidFill>
                <a:ea typeface="Open Sans"/>
              </a:rPr>
              <a:t>𝑐𝑜𝑠2(𝑥)−𝑥2=0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54674" y="5038540"/>
            <a:ext cx="3187382" cy="887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sz="5200">
                <a:solidFill>
                  <a:srgbClr val="FFFFFF"/>
                </a:solidFill>
                <a:ea typeface="Open Sans"/>
              </a:rPr>
              <a:t>𝑐𝑜𝑠2(𝑥)=𝑥2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207633" y="8771734"/>
            <a:ext cx="9525" cy="887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2916210" y="5797386"/>
            <a:ext cx="9525" cy="584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3190298" y="5412707"/>
            <a:ext cx="1908917" cy="4092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1"/>
              </a:lnSpc>
            </a:pPr>
            <a:r>
              <a:rPr lang="en-US" sz="3293">
                <a:solidFill>
                  <a:srgbClr val="000000"/>
                </a:solidFill>
                <a:latin typeface="League Gothic"/>
              </a:rPr>
              <a:t>g(x) = cos(x)</a:t>
            </a:r>
          </a:p>
          <a:p>
            <a:pPr algn="ctr">
              <a:lnSpc>
                <a:spcPts val="4611"/>
              </a:lnSpc>
            </a:pPr>
          </a:p>
          <a:p>
            <a:pPr>
              <a:lnSpc>
                <a:spcPts val="4611"/>
              </a:lnSpc>
            </a:pPr>
            <a:r>
              <a:rPr lang="en-US" sz="3293">
                <a:solidFill>
                  <a:srgbClr val="000000"/>
                </a:solidFill>
                <a:latin typeface="League Gothic"/>
              </a:rPr>
              <a:t>   </a:t>
            </a:r>
            <a:r>
              <a:rPr lang="en-US" sz="3293">
                <a:solidFill>
                  <a:srgbClr val="000000"/>
                </a:solidFill>
                <a:latin typeface="League Gothic"/>
              </a:rPr>
              <a:t>Xo=0,7</a:t>
            </a:r>
          </a:p>
          <a:p>
            <a:pPr algn="ctr">
              <a:lnSpc>
                <a:spcPts val="4611"/>
              </a:lnSpc>
            </a:pPr>
          </a:p>
          <a:p>
            <a:pPr algn="ctr">
              <a:lnSpc>
                <a:spcPts val="4611"/>
              </a:lnSpc>
            </a:pPr>
            <a:r>
              <a:rPr lang="en-US" sz="3293">
                <a:solidFill>
                  <a:srgbClr val="000000"/>
                </a:solidFill>
                <a:latin typeface="League Gothic"/>
              </a:rPr>
              <a:t>X1=cos(0,7)</a:t>
            </a:r>
          </a:p>
          <a:p>
            <a:pPr algn="ctr">
              <a:lnSpc>
                <a:spcPts val="4611"/>
              </a:lnSpc>
            </a:pPr>
          </a:p>
          <a:p>
            <a:pPr algn="ctr">
              <a:lnSpc>
                <a:spcPts val="4611"/>
              </a:lnSpc>
            </a:pPr>
            <a:r>
              <a:rPr lang="en-US" sz="3293">
                <a:solidFill>
                  <a:srgbClr val="000000"/>
                </a:solidFill>
                <a:latin typeface="League Gothic"/>
              </a:rPr>
              <a:t>   Xn+1 = cos(n)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3265" r="9544" b="3265"/>
          <a:stretch>
            <a:fillRect/>
          </a:stretch>
        </p:blipFill>
        <p:spPr>
          <a:xfrm flipH="false" flipV="false" rot="0">
            <a:off x="1212396" y="3074685"/>
            <a:ext cx="7351035" cy="5239808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1421" r="0" b="1421"/>
          <a:stretch>
            <a:fillRect/>
          </a:stretch>
        </p:blipFill>
        <p:spPr>
          <a:xfrm flipH="false" flipV="false" rot="0">
            <a:off x="10001641" y="3074685"/>
            <a:ext cx="6892769" cy="5239808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94878" y="133823"/>
            <a:ext cx="7315200" cy="71822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7315808" y="876300"/>
            <a:ext cx="3155279" cy="1328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48"/>
              </a:lnSpc>
            </a:pPr>
            <a:r>
              <a:rPr lang="en-US" sz="7820">
                <a:solidFill>
                  <a:srgbClr val="FFFFFF"/>
                </a:solidFill>
                <a:latin typeface="League Gothic"/>
              </a:rPr>
              <a:t>GRAFICAS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47506" y="418222"/>
            <a:ext cx="10855346" cy="2704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48"/>
              </a:lnSpc>
            </a:pPr>
            <a:r>
              <a:rPr lang="en-US" sz="7820">
                <a:solidFill>
                  <a:srgbClr val="FFFFFF"/>
                </a:solidFill>
                <a:latin typeface="League Gothic"/>
              </a:rPr>
              <a:t>RESULTADOS CON DIFERENTE TOLERANCIA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6680260" y="839637"/>
            <a:ext cx="8454551" cy="201372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9732582" y="3398359"/>
            <a:ext cx="6124863" cy="783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95"/>
              </a:lnSpc>
              <a:spcBef>
                <a:spcPct val="0"/>
              </a:spcBef>
            </a:pPr>
            <a:r>
              <a:rPr lang="en-US" sz="4568">
                <a:solidFill>
                  <a:srgbClr val="FFFFFF"/>
                </a:solidFill>
                <a:ea typeface="Open Sans"/>
              </a:rPr>
              <a:t>𝑓(𝑥) = (𝑥)(sin(x)-1) [-1,2]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73580" y="9355562"/>
            <a:ext cx="7315200" cy="71822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511314" y="3304670"/>
            <a:ext cx="4934694" cy="877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0"/>
              </a:lnSpc>
              <a:spcBef>
                <a:spcPct val="0"/>
              </a:spcBef>
            </a:pPr>
            <a:r>
              <a:rPr lang="en-US" sz="5200">
                <a:solidFill>
                  <a:srgbClr val="FFFFFF"/>
                </a:solidFill>
                <a:ea typeface="Open Sans"/>
              </a:rPr>
              <a:t>𝑓(𝑥) = 𝑐𝑜𝑠2(𝑥)−𝑥2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8407" y="5788215"/>
            <a:ext cx="1569657" cy="671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6"/>
              </a:lnSpc>
              <a:spcBef>
                <a:spcPct val="0"/>
              </a:spcBef>
            </a:pPr>
            <a:r>
              <a:rPr lang="en-US" sz="3954">
                <a:solidFill>
                  <a:srgbClr val="FFFFFF"/>
                </a:solidFill>
                <a:latin typeface="Open Sans"/>
              </a:rPr>
              <a:t>1e^-33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8407" y="6383222"/>
            <a:ext cx="1569657" cy="671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6"/>
              </a:lnSpc>
              <a:spcBef>
                <a:spcPct val="0"/>
              </a:spcBef>
            </a:pPr>
            <a:r>
              <a:rPr lang="en-US" sz="3954">
                <a:solidFill>
                  <a:srgbClr val="FFFFFF"/>
                </a:solidFill>
                <a:latin typeface="Open Sans"/>
              </a:rPr>
              <a:t>1e^-56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68407" y="5193209"/>
            <a:ext cx="1569657" cy="671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6"/>
              </a:lnSpc>
              <a:spcBef>
                <a:spcPct val="0"/>
              </a:spcBef>
            </a:pPr>
            <a:r>
              <a:rPr lang="en-US" sz="3954">
                <a:solidFill>
                  <a:srgbClr val="FFFFFF"/>
                </a:solidFill>
                <a:latin typeface="Open Sans"/>
              </a:rPr>
              <a:t>1e^-16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11314" y="4479821"/>
            <a:ext cx="1283843" cy="671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6"/>
              </a:lnSpc>
              <a:spcBef>
                <a:spcPct val="0"/>
              </a:spcBef>
            </a:pPr>
            <a:r>
              <a:rPr lang="en-US" sz="3954">
                <a:solidFill>
                  <a:srgbClr val="FFFFFF"/>
                </a:solidFill>
                <a:latin typeface="Open Sans"/>
              </a:rPr>
              <a:t>1e^-8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52305" y="4479821"/>
            <a:ext cx="5599353" cy="671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6"/>
              </a:lnSpc>
              <a:spcBef>
                <a:spcPct val="0"/>
              </a:spcBef>
            </a:pPr>
            <a:r>
              <a:rPr lang="en-US" sz="3954">
                <a:solidFill>
                  <a:srgbClr val="FFFFFF"/>
                </a:solidFill>
                <a:latin typeface="Open Sans"/>
              </a:rPr>
              <a:t>--&gt;</a:t>
            </a:r>
            <a:r>
              <a:rPr lang="en-US" sz="3954">
                <a:solidFill>
                  <a:srgbClr val="FFFFFF"/>
                </a:solidFill>
                <a:latin typeface="Open Sans"/>
              </a:rPr>
              <a:t>0.7390851366465718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52305" y="5193209"/>
            <a:ext cx="5599353" cy="671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6"/>
              </a:lnSpc>
              <a:spcBef>
                <a:spcPct val="0"/>
              </a:spcBef>
            </a:pPr>
            <a:r>
              <a:rPr lang="en-US" sz="3954">
                <a:solidFill>
                  <a:srgbClr val="FFFFFF"/>
                </a:solidFill>
                <a:latin typeface="Open Sans"/>
              </a:rPr>
              <a:t>--&gt;</a:t>
            </a:r>
            <a:r>
              <a:rPr lang="en-US" sz="3954">
                <a:solidFill>
                  <a:srgbClr val="FFFFFF"/>
                </a:solidFill>
                <a:latin typeface="Open Sans"/>
              </a:rPr>
              <a:t>0.7390851332151607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252305" y="5788215"/>
            <a:ext cx="5599353" cy="671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6"/>
              </a:lnSpc>
              <a:spcBef>
                <a:spcPct val="0"/>
              </a:spcBef>
            </a:pPr>
            <a:r>
              <a:rPr lang="en-US" sz="3954">
                <a:solidFill>
                  <a:srgbClr val="FFFFFF"/>
                </a:solidFill>
                <a:latin typeface="Open Sans"/>
              </a:rPr>
              <a:t>--&gt;</a:t>
            </a:r>
            <a:r>
              <a:rPr lang="en-US" sz="3954">
                <a:solidFill>
                  <a:srgbClr val="FFFFFF"/>
                </a:solidFill>
                <a:latin typeface="Open Sans"/>
              </a:rPr>
              <a:t>0.7390851332151607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252305" y="6383222"/>
            <a:ext cx="5599353" cy="671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6"/>
              </a:lnSpc>
              <a:spcBef>
                <a:spcPct val="0"/>
              </a:spcBef>
            </a:pPr>
            <a:r>
              <a:rPr lang="en-US" sz="3954">
                <a:solidFill>
                  <a:srgbClr val="FFFFFF"/>
                </a:solidFill>
                <a:latin typeface="Open Sans"/>
              </a:rPr>
              <a:t>--&gt;</a:t>
            </a:r>
            <a:r>
              <a:rPr lang="en-US" sz="3954">
                <a:solidFill>
                  <a:srgbClr val="FFFFFF"/>
                </a:solidFill>
                <a:latin typeface="Open Sans"/>
              </a:rPr>
              <a:t>0.7390851332151607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084286" y="4462906"/>
            <a:ext cx="1296591" cy="680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6"/>
              </a:lnSpc>
              <a:spcBef>
                <a:spcPct val="0"/>
              </a:spcBef>
            </a:pPr>
            <a:r>
              <a:rPr lang="en-US" sz="3954">
                <a:solidFill>
                  <a:srgbClr val="FFFFFF"/>
                </a:solidFill>
                <a:latin typeface="Open Sans"/>
              </a:rPr>
              <a:t>1e^-8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706355" y="4579426"/>
            <a:ext cx="5655022" cy="680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6"/>
              </a:lnSpc>
              <a:spcBef>
                <a:spcPct val="0"/>
              </a:spcBef>
            </a:pPr>
            <a:r>
              <a:rPr lang="en-US" sz="3954">
                <a:solidFill>
                  <a:srgbClr val="FFFFFF"/>
                </a:solidFill>
                <a:latin typeface="Open Sans"/>
              </a:rPr>
              <a:t>--&gt;</a:t>
            </a:r>
            <a:r>
              <a:rPr lang="en-US" sz="3954">
                <a:solidFill>
                  <a:srgbClr val="FFFFFF"/>
                </a:solidFill>
                <a:latin typeface="Open Sans"/>
              </a:rPr>
              <a:t>1.1141571440916247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795560" y="5183821"/>
            <a:ext cx="1585317" cy="680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6"/>
              </a:lnSpc>
              <a:spcBef>
                <a:spcPct val="0"/>
              </a:spcBef>
            </a:pPr>
            <a:r>
              <a:rPr lang="en-US" sz="3954">
                <a:solidFill>
                  <a:srgbClr val="FFFFFF"/>
                </a:solidFill>
                <a:latin typeface="Open Sans"/>
              </a:rPr>
              <a:t>1e^-16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380877" y="5183821"/>
            <a:ext cx="6185701" cy="680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6"/>
              </a:lnSpc>
              <a:spcBef>
                <a:spcPct val="0"/>
              </a:spcBef>
            </a:pPr>
            <a:r>
              <a:rPr lang="en-US" sz="3954">
                <a:solidFill>
                  <a:srgbClr val="FFFFFF"/>
                </a:solidFill>
                <a:latin typeface="Open Sans"/>
              </a:rPr>
              <a:t>--&gt;1.1141571401408719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8206703" y="1937916"/>
            <a:ext cx="2380850" cy="7960069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7557194" y="1700182"/>
            <a:ext cx="3746412" cy="8435536"/>
            <a:chOff x="0" y="0"/>
            <a:chExt cx="2831459" cy="6375400"/>
          </a:xfrm>
        </p:grpSpPr>
        <p:sp>
          <p:nvSpPr>
            <p:cNvPr name="Freeform 4" id="4"/>
            <p:cNvSpPr/>
            <p:nvPr/>
          </p:nvSpPr>
          <p:spPr>
            <a:xfrm>
              <a:off x="0" y="0"/>
              <a:ext cx="2831460" cy="6375400"/>
            </a:xfrm>
            <a:custGeom>
              <a:avLst/>
              <a:gdLst/>
              <a:ahLst/>
              <a:cxnLst/>
              <a:rect r="r" b="b" t="t" l="l"/>
              <a:pathLst>
                <a:path h="6375400" w="2831460">
                  <a:moveTo>
                    <a:pt x="133350" y="838200"/>
                  </a:moveTo>
                  <a:lnTo>
                    <a:pt x="133350" y="300990"/>
                  </a:lnTo>
                  <a:lnTo>
                    <a:pt x="146050" y="300990"/>
                  </a:lnTo>
                  <a:lnTo>
                    <a:pt x="146050" y="6082030"/>
                  </a:lnTo>
                  <a:lnTo>
                    <a:pt x="133350" y="6082030"/>
                  </a:lnTo>
                  <a:lnTo>
                    <a:pt x="133350" y="838200"/>
                  </a:lnTo>
                  <a:close/>
                  <a:moveTo>
                    <a:pt x="304800" y="137160"/>
                  </a:moveTo>
                  <a:lnTo>
                    <a:pt x="2529199" y="137160"/>
                  </a:lnTo>
                  <a:lnTo>
                    <a:pt x="2529199" y="124460"/>
                  </a:lnTo>
                  <a:lnTo>
                    <a:pt x="304800" y="124460"/>
                  </a:lnTo>
                  <a:lnTo>
                    <a:pt x="304800" y="137160"/>
                  </a:lnTo>
                  <a:close/>
                  <a:moveTo>
                    <a:pt x="25400" y="5695950"/>
                  </a:moveTo>
                  <a:lnTo>
                    <a:pt x="0" y="5695950"/>
                  </a:lnTo>
                  <a:lnTo>
                    <a:pt x="0" y="6375400"/>
                  </a:lnTo>
                  <a:lnTo>
                    <a:pt x="679450" y="6375400"/>
                  </a:lnTo>
                  <a:lnTo>
                    <a:pt x="679450" y="6350000"/>
                  </a:lnTo>
                  <a:lnTo>
                    <a:pt x="25400" y="6350000"/>
                  </a:lnTo>
                  <a:lnTo>
                    <a:pt x="25400" y="5695950"/>
                  </a:lnTo>
                  <a:close/>
                  <a:moveTo>
                    <a:pt x="25400" y="25400"/>
                  </a:moveTo>
                  <a:lnTo>
                    <a:pt x="679450" y="25400"/>
                  </a:lnTo>
                  <a:lnTo>
                    <a:pt x="679450" y="0"/>
                  </a:lnTo>
                  <a:lnTo>
                    <a:pt x="0" y="0"/>
                  </a:lnTo>
                  <a:lnTo>
                    <a:pt x="0" y="679450"/>
                  </a:lnTo>
                  <a:lnTo>
                    <a:pt x="25400" y="679450"/>
                  </a:lnTo>
                  <a:lnTo>
                    <a:pt x="25400" y="25400"/>
                  </a:lnTo>
                  <a:close/>
                  <a:moveTo>
                    <a:pt x="2699379" y="838200"/>
                  </a:moveTo>
                  <a:lnTo>
                    <a:pt x="2699379" y="295910"/>
                  </a:lnTo>
                  <a:lnTo>
                    <a:pt x="2686679" y="295910"/>
                  </a:lnTo>
                  <a:lnTo>
                    <a:pt x="2686679" y="6082030"/>
                  </a:lnTo>
                  <a:lnTo>
                    <a:pt x="2699379" y="6082030"/>
                  </a:lnTo>
                  <a:lnTo>
                    <a:pt x="2699379" y="838200"/>
                  </a:lnTo>
                  <a:close/>
                  <a:moveTo>
                    <a:pt x="2527929" y="6238240"/>
                  </a:moveTo>
                  <a:lnTo>
                    <a:pt x="299720" y="6238240"/>
                  </a:lnTo>
                  <a:lnTo>
                    <a:pt x="299720" y="6250940"/>
                  </a:lnTo>
                  <a:lnTo>
                    <a:pt x="2527930" y="6250940"/>
                  </a:lnTo>
                  <a:lnTo>
                    <a:pt x="2527930" y="6238240"/>
                  </a:lnTo>
                  <a:close/>
                  <a:moveTo>
                    <a:pt x="2152010" y="0"/>
                  </a:moveTo>
                  <a:lnTo>
                    <a:pt x="2152010" y="25400"/>
                  </a:lnTo>
                  <a:lnTo>
                    <a:pt x="2806060" y="25400"/>
                  </a:lnTo>
                  <a:lnTo>
                    <a:pt x="2806060" y="679450"/>
                  </a:lnTo>
                  <a:lnTo>
                    <a:pt x="2831460" y="679450"/>
                  </a:lnTo>
                  <a:lnTo>
                    <a:pt x="2831460" y="0"/>
                  </a:lnTo>
                  <a:lnTo>
                    <a:pt x="2152010" y="0"/>
                  </a:lnTo>
                  <a:close/>
                  <a:moveTo>
                    <a:pt x="2806060" y="6350000"/>
                  </a:moveTo>
                  <a:lnTo>
                    <a:pt x="2152010" y="6350000"/>
                  </a:lnTo>
                  <a:lnTo>
                    <a:pt x="2152010" y="6375400"/>
                  </a:lnTo>
                  <a:lnTo>
                    <a:pt x="2831460" y="6375400"/>
                  </a:lnTo>
                  <a:lnTo>
                    <a:pt x="2831460" y="5695950"/>
                  </a:lnTo>
                  <a:lnTo>
                    <a:pt x="2806060" y="5695950"/>
                  </a:lnTo>
                  <a:lnTo>
                    <a:pt x="2806060" y="6350000"/>
                  </a:lnTo>
                  <a:close/>
                </a:path>
              </a:pathLst>
            </a:custGeom>
            <a:solidFill>
              <a:srgbClr val="FF1616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6984393" y="556673"/>
            <a:ext cx="4319214" cy="1093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22"/>
              </a:lnSpc>
            </a:pPr>
            <a:r>
              <a:rPr lang="en-US" sz="6301" u="sng">
                <a:solidFill>
                  <a:srgbClr val="FFFFFF"/>
                </a:solidFill>
                <a:latin typeface="League Gothic"/>
              </a:rPr>
              <a:t>DIAGRAMA DE FLUJO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9999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3925762" y="7954754"/>
            <a:ext cx="7213418" cy="371491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alphaModFix amt="9999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t="0" r="0" b="0"/>
          <a:stretch>
            <a:fillRect/>
          </a:stretch>
        </p:blipFill>
        <p:spPr>
          <a:xfrm flipH="false" flipV="false" rot="-10800000">
            <a:off x="-2578009" y="319982"/>
            <a:ext cx="7213418" cy="371491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alphaModFix amt="9999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3148400" y="1786965"/>
            <a:ext cx="7213418" cy="371491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748849" y="4200108"/>
            <a:ext cx="7744125" cy="2527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36"/>
              </a:lnSpc>
            </a:pPr>
            <a:r>
              <a:rPr lang="en-US" sz="7720">
                <a:solidFill>
                  <a:srgbClr val="FFFFFF"/>
                </a:solidFill>
                <a:latin typeface="Prompt Bold"/>
              </a:rPr>
              <a:t>METODO DE AITKEN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81075"/>
            <a:ext cx="7435592" cy="423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4"/>
              </a:lnSpc>
            </a:pPr>
            <a:r>
              <a:rPr lang="en-US" sz="2467">
                <a:solidFill>
                  <a:srgbClr val="FFFFFF"/>
                </a:solidFill>
                <a:latin typeface="Prompt Light"/>
              </a:rPr>
              <a:t>Cristian Benitez, Alejandro Diaz, Andres Porras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2237201" y="2389473"/>
            <a:ext cx="15900816" cy="2045434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-5400000">
            <a:off x="7846388" y="-3911557"/>
            <a:ext cx="3479727" cy="15027885"/>
            <a:chOff x="0" y="0"/>
            <a:chExt cx="2864783" cy="12372126"/>
          </a:xfrm>
        </p:grpSpPr>
        <p:sp>
          <p:nvSpPr>
            <p:cNvPr name="Freeform 4" id="4"/>
            <p:cNvSpPr/>
            <p:nvPr/>
          </p:nvSpPr>
          <p:spPr>
            <a:xfrm>
              <a:off x="0" y="0"/>
              <a:ext cx="2864783" cy="12372126"/>
            </a:xfrm>
            <a:custGeom>
              <a:avLst/>
              <a:gdLst/>
              <a:ahLst/>
              <a:cxnLst/>
              <a:rect r="r" b="b" t="t" l="l"/>
              <a:pathLst>
                <a:path h="12372126" w="2864783">
                  <a:moveTo>
                    <a:pt x="133350" y="838200"/>
                  </a:moveTo>
                  <a:lnTo>
                    <a:pt x="133350" y="300990"/>
                  </a:lnTo>
                  <a:lnTo>
                    <a:pt x="146050" y="300990"/>
                  </a:lnTo>
                  <a:lnTo>
                    <a:pt x="146050" y="12078757"/>
                  </a:lnTo>
                  <a:lnTo>
                    <a:pt x="133350" y="12078757"/>
                  </a:lnTo>
                  <a:lnTo>
                    <a:pt x="133350" y="838200"/>
                  </a:lnTo>
                  <a:close/>
                  <a:moveTo>
                    <a:pt x="304800" y="137160"/>
                  </a:moveTo>
                  <a:lnTo>
                    <a:pt x="2562522" y="137160"/>
                  </a:lnTo>
                  <a:lnTo>
                    <a:pt x="2562522" y="124460"/>
                  </a:lnTo>
                  <a:lnTo>
                    <a:pt x="304800" y="124460"/>
                  </a:lnTo>
                  <a:lnTo>
                    <a:pt x="304800" y="137160"/>
                  </a:lnTo>
                  <a:close/>
                  <a:moveTo>
                    <a:pt x="25400" y="11692676"/>
                  </a:moveTo>
                  <a:lnTo>
                    <a:pt x="0" y="11692676"/>
                  </a:lnTo>
                  <a:lnTo>
                    <a:pt x="0" y="12372126"/>
                  </a:lnTo>
                  <a:lnTo>
                    <a:pt x="679450" y="12372126"/>
                  </a:lnTo>
                  <a:lnTo>
                    <a:pt x="679450" y="12346726"/>
                  </a:lnTo>
                  <a:lnTo>
                    <a:pt x="25400" y="12346726"/>
                  </a:lnTo>
                  <a:lnTo>
                    <a:pt x="25400" y="11692676"/>
                  </a:lnTo>
                  <a:close/>
                  <a:moveTo>
                    <a:pt x="25400" y="25400"/>
                  </a:moveTo>
                  <a:lnTo>
                    <a:pt x="679450" y="25400"/>
                  </a:lnTo>
                  <a:lnTo>
                    <a:pt x="679450" y="0"/>
                  </a:lnTo>
                  <a:lnTo>
                    <a:pt x="0" y="0"/>
                  </a:lnTo>
                  <a:lnTo>
                    <a:pt x="0" y="679450"/>
                  </a:lnTo>
                  <a:lnTo>
                    <a:pt x="25400" y="679450"/>
                  </a:lnTo>
                  <a:lnTo>
                    <a:pt x="25400" y="25400"/>
                  </a:lnTo>
                  <a:close/>
                  <a:moveTo>
                    <a:pt x="2732702" y="838200"/>
                  </a:moveTo>
                  <a:lnTo>
                    <a:pt x="2732702" y="295910"/>
                  </a:lnTo>
                  <a:lnTo>
                    <a:pt x="2720002" y="295910"/>
                  </a:lnTo>
                  <a:lnTo>
                    <a:pt x="2720002" y="12078757"/>
                  </a:lnTo>
                  <a:lnTo>
                    <a:pt x="2732702" y="12078757"/>
                  </a:lnTo>
                  <a:lnTo>
                    <a:pt x="2732702" y="838200"/>
                  </a:lnTo>
                  <a:close/>
                  <a:moveTo>
                    <a:pt x="2561252" y="12234966"/>
                  </a:moveTo>
                  <a:lnTo>
                    <a:pt x="299720" y="12234966"/>
                  </a:lnTo>
                  <a:lnTo>
                    <a:pt x="299720" y="12247666"/>
                  </a:lnTo>
                  <a:lnTo>
                    <a:pt x="2561253" y="12247666"/>
                  </a:lnTo>
                  <a:lnTo>
                    <a:pt x="2561253" y="12234966"/>
                  </a:lnTo>
                  <a:close/>
                  <a:moveTo>
                    <a:pt x="2185333" y="0"/>
                  </a:moveTo>
                  <a:lnTo>
                    <a:pt x="2185333" y="25400"/>
                  </a:lnTo>
                  <a:lnTo>
                    <a:pt x="2839383" y="25400"/>
                  </a:lnTo>
                  <a:lnTo>
                    <a:pt x="2839383" y="679450"/>
                  </a:lnTo>
                  <a:lnTo>
                    <a:pt x="2864783" y="679450"/>
                  </a:lnTo>
                  <a:lnTo>
                    <a:pt x="2864783" y="0"/>
                  </a:lnTo>
                  <a:lnTo>
                    <a:pt x="2185333" y="0"/>
                  </a:lnTo>
                  <a:close/>
                  <a:moveTo>
                    <a:pt x="2839383" y="12346726"/>
                  </a:moveTo>
                  <a:lnTo>
                    <a:pt x="2185333" y="12346726"/>
                  </a:lnTo>
                  <a:lnTo>
                    <a:pt x="2185333" y="12372126"/>
                  </a:lnTo>
                  <a:lnTo>
                    <a:pt x="2864783" y="12372126"/>
                  </a:lnTo>
                  <a:lnTo>
                    <a:pt x="2864783" y="11692676"/>
                  </a:lnTo>
                  <a:lnTo>
                    <a:pt x="2839383" y="11692676"/>
                  </a:lnTo>
                  <a:lnTo>
                    <a:pt x="2839383" y="12346726"/>
                  </a:lnTo>
                  <a:close/>
                </a:path>
              </a:pathLst>
            </a:custGeom>
            <a:solidFill>
              <a:srgbClr val="5CE1E6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4884271" y="531490"/>
            <a:ext cx="2599863" cy="1275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12"/>
              </a:lnSpc>
            </a:pPr>
            <a:r>
              <a:rPr lang="en-US" sz="7366" u="sng">
                <a:solidFill>
                  <a:srgbClr val="000000"/>
                </a:solidFill>
                <a:latin typeface="League Gothic"/>
              </a:rPr>
              <a:t>Definicion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72309" y="5480989"/>
            <a:ext cx="15186991" cy="335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19210" indent="-409605" lvl="1">
              <a:lnSpc>
                <a:spcPts val="5312"/>
              </a:lnSpc>
              <a:buFont typeface="Arial"/>
              <a:buChar char="•"/>
            </a:pPr>
            <a:r>
              <a:rPr lang="en-US" sz="3794">
                <a:solidFill>
                  <a:srgbClr val="000000"/>
                </a:solidFill>
                <a:latin typeface="League Gothic"/>
              </a:rPr>
              <a:t>El proceso Δ² de </a:t>
            </a:r>
            <a:r>
              <a:rPr lang="en-US" sz="3794">
                <a:solidFill>
                  <a:srgbClr val="000000"/>
                </a:solidFill>
                <a:latin typeface="League Gothic"/>
              </a:rPr>
              <a:t>Aitken es un método de aceleración de la convergencia, y en particular un caso de transformación no lineal de una sucesión.</a:t>
            </a:r>
          </a:p>
          <a:p>
            <a:pPr algn="just" marL="819210" indent="-409605" lvl="1">
              <a:lnSpc>
                <a:spcPts val="5312"/>
              </a:lnSpc>
              <a:buFont typeface="Arial"/>
              <a:buChar char="•"/>
            </a:pPr>
            <a:r>
              <a:rPr lang="en-US" sz="3794">
                <a:solidFill>
                  <a:srgbClr val="000000"/>
                </a:solidFill>
                <a:latin typeface="League Gothic"/>
              </a:rPr>
              <a:t>Iterar minimo 3 veces, luego se aplica la formula.</a:t>
            </a:r>
          </a:p>
          <a:p>
            <a:pPr algn="just" marL="819210" indent="-409605" lvl="1">
              <a:lnSpc>
                <a:spcPts val="5312"/>
              </a:lnSpc>
              <a:buFont typeface="Arial"/>
              <a:buChar char="•"/>
            </a:pPr>
            <a:r>
              <a:rPr lang="en-US" sz="3794">
                <a:solidFill>
                  <a:srgbClr val="000000"/>
                </a:solidFill>
                <a:latin typeface="League Gothic"/>
              </a:rPr>
              <a:t>No converge de forma cuadratica , asi que se puede demostrar mediante metodo de punto fijo.</a:t>
            </a:r>
          </a:p>
          <a:p>
            <a:pPr algn="just">
              <a:lnSpc>
                <a:spcPts val="5312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7963286" y="8325583"/>
            <a:ext cx="2361427" cy="912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16"/>
              </a:lnSpc>
            </a:pPr>
            <a:r>
              <a:rPr lang="en-US" sz="5297">
                <a:solidFill>
                  <a:srgbClr val="000000"/>
                </a:solidFill>
                <a:latin typeface="League Gothic"/>
              </a:rPr>
              <a:t>Xn+1=F(Xn)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DAEWhUXXLUE</dc:identifier>
  <dcterms:modified xsi:type="dcterms:W3CDTF">2011-08-01T06:04:30Z</dcterms:modified>
  <cp:revision>1</cp:revision>
  <dc:title>METODO ITERATIVO DE PUNTO FIJO</dc:title>
</cp:coreProperties>
</file>